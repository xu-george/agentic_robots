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mp4" ContentType="video/mp4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5" r:id="rId11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68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4.png"/><Relationship Id="rId3" Type="http://schemas.openxmlformats.org/officeDocument/2006/relationships/tags" Target="../tags/tag1.xml"/><Relationship Id="rId2" Type="http://schemas.microsoft.com/office/2007/relationships/media" Target="../media/media1.mp4"/><Relationship Id="rId1" Type="http://schemas.openxmlformats.org/officeDocument/2006/relationships/video" Target="../media/media1.mp4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973568" y="0"/>
            <a:ext cx="4215384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339327" y="960120"/>
            <a:ext cx="3474720" cy="109728"/>
          </a:xfrm>
          <a:prstGeom prst="rect">
            <a:avLst/>
          </a:prstGeom>
          <a:solidFill>
            <a:srgbClr val="008991"/>
          </a:solidFill>
          <a:ln>
            <a:solidFill>
              <a:srgbClr val="008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339327" y="1389888"/>
            <a:ext cx="2788920" cy="109728"/>
          </a:xfrm>
          <a:prstGeom prst="rect">
            <a:avLst/>
          </a:prstGeom>
          <a:solidFill>
            <a:srgbClr val="2369BE"/>
          </a:solidFill>
          <a:ln>
            <a:solidFill>
              <a:srgbClr val="236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339327" y="1819656"/>
            <a:ext cx="2103120" cy="109728"/>
          </a:xfrm>
          <a:prstGeom prst="rect">
            <a:avLst/>
          </a:prstGeom>
          <a:solidFill>
            <a:srgbClr val="B57700"/>
          </a:solidFill>
          <a:ln>
            <a:solidFill>
              <a:srgbClr val="B57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143000"/>
            <a:ext cx="7040880" cy="1325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3600" b="1">
                <a:solidFill>
                  <a:srgbClr val="132B44"/>
                </a:solidFill>
                <a:latin typeface="Aptos"/>
              </a:rPr>
              <a:t>UNIFIED ROBOT
CONTROL INTERFACE</a:t>
            </a:r>
            <a:endParaRPr sz="3600" b="1">
              <a:solidFill>
                <a:srgbClr val="132B44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21792" y="2761488"/>
            <a:ext cx="6583680" cy="9144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900" b="0">
                <a:solidFill>
                  <a:srgbClr val="4F6982"/>
                </a:solidFill>
                <a:latin typeface="Aptos"/>
              </a:rPr>
              <a:t>A common GUI and integration framework for agentic planning, Isaac ROS execution, and Picker2 learned skills</a:t>
            </a:r>
            <a:endParaRPr sz="1900" b="0">
              <a:solidFill>
                <a:srgbClr val="4F6982"/>
              </a:solidFill>
              <a:latin typeface="Aptos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21792" y="4041648"/>
            <a:ext cx="1234440" cy="274320"/>
          </a:xfrm>
          <a:prstGeom prst="roundRect">
            <a:avLst/>
          </a:prstGeom>
          <a:solidFill>
            <a:srgbClr val="008991"/>
          </a:solidFill>
          <a:ln>
            <a:solidFill>
              <a:srgbClr val="008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4069080"/>
            <a:ext cx="1088136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000" b="1">
                <a:solidFill>
                  <a:srgbClr val="008991"/>
                </a:solidFill>
                <a:latin typeface="Aptos"/>
              </a:rPr>
              <a:t>AGENTIC</a:t>
            </a:r>
            <a:endParaRPr sz="1000" b="1">
              <a:solidFill>
                <a:srgbClr val="008991"/>
              </a:solidFill>
              <a:latin typeface="Aptos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1993392" y="4041648"/>
            <a:ext cx="1005840" cy="274320"/>
          </a:xfrm>
          <a:prstGeom prst="roundRect">
            <a:avLst/>
          </a:prstGeom>
          <a:solidFill>
            <a:srgbClr val="2369BE"/>
          </a:solidFill>
          <a:ln>
            <a:solidFill>
              <a:srgbClr val="236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66544" y="4069080"/>
            <a:ext cx="859536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000" b="1">
                <a:solidFill>
                  <a:srgbClr val="2369BE"/>
                </a:solidFill>
                <a:latin typeface="Aptos"/>
              </a:rPr>
              <a:t>ROS 2</a:t>
            </a:r>
            <a:endParaRPr sz="1000" b="1">
              <a:solidFill>
                <a:srgbClr val="2369BE"/>
              </a:solidFill>
              <a:latin typeface="Aptos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3136392" y="4041648"/>
            <a:ext cx="1234440" cy="274320"/>
          </a:xfrm>
          <a:prstGeom prst="roundRect">
            <a:avLst/>
          </a:prstGeom>
          <a:solidFill>
            <a:srgbClr val="7043AF"/>
          </a:solidFill>
          <a:ln>
            <a:solidFill>
              <a:srgbClr val="704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9544" y="4069080"/>
            <a:ext cx="1088136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000" b="1">
                <a:solidFill>
                  <a:srgbClr val="7043AF"/>
                </a:solidFill>
                <a:latin typeface="Aptos"/>
              </a:rPr>
              <a:t>RL SKILLS</a:t>
            </a:r>
            <a:endParaRPr sz="1000" b="1">
              <a:solidFill>
                <a:srgbClr val="7043AF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21792" y="6172200"/>
            <a:ext cx="685800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0">
                <a:solidFill>
                  <a:srgbClr val="4F6982"/>
                </a:solidFill>
                <a:latin typeface="Aptos"/>
              </a:rPr>
              <a:t>Architecture proposal • grounded in the current repositories</a:t>
            </a:r>
            <a:endParaRPr sz="1100" b="0">
              <a:solidFill>
                <a:srgbClr val="4F6982"/>
              </a:solidFill>
              <a:latin typeface="Aptos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8549640" y="2743200"/>
            <a:ext cx="2926080" cy="502920"/>
          </a:xfrm>
          <a:prstGeom prst="roundRect">
            <a:avLst/>
          </a:prstGeom>
          <a:solidFill>
            <a:srgbClr val="DCEDFC"/>
          </a:solidFill>
          <a:ln>
            <a:solidFill>
              <a:srgbClr val="008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32520" y="2871216"/>
            <a:ext cx="256032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300" b="1">
                <a:solidFill>
                  <a:srgbClr val="008991"/>
                </a:solidFill>
                <a:latin typeface="Aptos"/>
              </a:rPr>
              <a:t>PLAN</a:t>
            </a:r>
            <a:endParaRPr sz="1300" b="1">
              <a:solidFill>
                <a:srgbClr val="008991"/>
              </a:solidFill>
              <a:latin typeface="Aptos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8549640" y="3429000"/>
            <a:ext cx="2926080" cy="502920"/>
          </a:xfrm>
          <a:prstGeom prst="roundRect">
            <a:avLst/>
          </a:prstGeom>
          <a:solidFill>
            <a:srgbClr val="DCEDFC"/>
          </a:solidFill>
          <a:ln>
            <a:solidFill>
              <a:srgbClr val="236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32520" y="3557016"/>
            <a:ext cx="256032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300" b="1">
                <a:solidFill>
                  <a:srgbClr val="2369BE"/>
                </a:solidFill>
                <a:latin typeface="Aptos"/>
              </a:rPr>
              <a:t>PERCEIVE</a:t>
            </a:r>
            <a:endParaRPr sz="1300" b="1">
              <a:solidFill>
                <a:srgbClr val="2369BE"/>
              </a:solidFill>
              <a:latin typeface="Aptos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8549640" y="4114800"/>
            <a:ext cx="2926080" cy="502920"/>
          </a:xfrm>
          <a:prstGeom prst="roundRect">
            <a:avLst/>
          </a:prstGeom>
          <a:solidFill>
            <a:srgbClr val="DCEDFC"/>
          </a:solidFill>
          <a:ln>
            <a:solidFill>
              <a:srgbClr val="B57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32520" y="4242816"/>
            <a:ext cx="256032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300" b="1">
                <a:solidFill>
                  <a:srgbClr val="B57700"/>
                </a:solidFill>
                <a:latin typeface="Aptos"/>
              </a:rPr>
              <a:t>ACT</a:t>
            </a:r>
            <a:endParaRPr sz="1300" b="1">
              <a:solidFill>
                <a:srgbClr val="B57700"/>
              </a:solidFill>
              <a:latin typeface="Aptos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8549640" y="4800600"/>
            <a:ext cx="2926080" cy="502920"/>
          </a:xfrm>
          <a:prstGeom prst="roundRect">
            <a:avLst/>
          </a:prstGeom>
          <a:solidFill>
            <a:srgbClr val="DCEDFC"/>
          </a:solidFill>
          <a:ln>
            <a:solidFill>
              <a:srgbClr val="1987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32520" y="4928616"/>
            <a:ext cx="256032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300" b="1">
                <a:solidFill>
                  <a:srgbClr val="19874F"/>
                </a:solidFill>
                <a:latin typeface="Aptos"/>
              </a:rPr>
              <a:t>VERIFY</a:t>
            </a:r>
            <a:endParaRPr sz="1300" b="1">
              <a:solidFill>
                <a:srgbClr val="19874F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92608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1">
                <a:solidFill>
                  <a:srgbClr val="008991"/>
                </a:solidFill>
                <a:latin typeface="Aptos"/>
              </a:rPr>
              <a:t>INTERFACE EXAMPLE</a:t>
            </a:r>
            <a:endParaRPr sz="1000" b="1">
              <a:solidFill>
                <a:srgbClr val="008991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064240" cy="4754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700" b="1">
                <a:solidFill>
                  <a:srgbClr val="132B44"/>
                </a:solidFill>
                <a:latin typeface="Aptos"/>
              </a:rPr>
              <a:t>CaP-X simulation: workflow and 3D visualization</a:t>
            </a:r>
            <a:endParaRPr sz="2700" b="1">
              <a:solidFill>
                <a:srgbClr val="132B44"/>
              </a:solidFill>
              <a:latin typeface="Aptos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502920" y="1124712"/>
            <a:ext cx="11183112" cy="0"/>
          </a:xfrm>
          <a:prstGeom prst="line">
            <a:avLst/>
          </a:prstGeom>
          <a:ln w="12700">
            <a:solidFill>
              <a:srgbClr val="2D3A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475720" y="6510528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900" b="1">
                <a:solidFill>
                  <a:srgbClr val="4F6982"/>
                </a:solidFill>
                <a:latin typeface="Aptos"/>
              </a:rPr>
              <a:t>02</a:t>
            </a:r>
            <a:endParaRPr sz="900" b="1">
              <a:solidFill>
                <a:srgbClr val="4F6982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1060704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00" b="0">
                <a:solidFill>
                  <a:srgbClr val="4F6982"/>
                </a:solidFill>
                <a:latin typeface="Aptos"/>
              </a:rPr>
              <a:t>Screenshot captured from the local Franka cube-lifting demonstration</a:t>
            </a:r>
            <a:endParaRPr sz="800" b="0">
              <a:solidFill>
                <a:srgbClr val="4F6982"/>
              </a:solidFill>
              <a:latin typeface="Aptos"/>
            </a:endParaRPr>
          </a:p>
        </p:txBody>
      </p:sp>
      <p:pic>
        <p:nvPicPr>
          <p:cNvPr id="7" name="Picture 6" descr="capx_latest_screenshot.png"/>
          <p:cNvPicPr>
            <a:picLocks noChangeAspect="1"/>
          </p:cNvPicPr>
          <p:nvPr/>
        </p:nvPicPr>
        <p:blipFill>
          <a:blip r:embed="rId1"/>
          <a:srcRect t="6807" b="6807"/>
          <a:stretch>
            <a:fillRect/>
          </a:stretch>
        </p:blipFill>
        <p:spPr>
          <a:xfrm>
            <a:off x="566928" y="1298448"/>
            <a:ext cx="11045952" cy="4956048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49808" y="5870448"/>
            <a:ext cx="4160520" cy="256032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5925312"/>
            <a:ext cx="3931920" cy="1371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>
                <a:solidFill>
                  <a:srgbClr val="132B44"/>
                </a:solidFill>
                <a:latin typeface="Aptos"/>
              </a:rPr>
              <a:t>Executable workflow • task events • MuJoCo view • interactive Viser scene</a:t>
            </a:r>
            <a:endParaRPr sz="850" b="1">
              <a:solidFill>
                <a:srgbClr val="132B44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92608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1">
                <a:solidFill>
                  <a:srgbClr val="008991"/>
                </a:solidFill>
                <a:latin typeface="Aptos"/>
              </a:rPr>
              <a:t>GUI STRUCTURE</a:t>
            </a:r>
            <a:endParaRPr sz="1000" b="1">
              <a:solidFill>
                <a:srgbClr val="008991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064240" cy="4754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700" b="1">
                <a:solidFill>
                  <a:srgbClr val="132B44"/>
                </a:solidFill>
                <a:latin typeface="Aptos"/>
              </a:rPr>
              <a:t>How the CaP-X GUI exposes robot execution</a:t>
            </a:r>
            <a:endParaRPr sz="2700" b="1">
              <a:solidFill>
                <a:srgbClr val="132B44"/>
              </a:solidFill>
              <a:latin typeface="Aptos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502920" y="1124712"/>
            <a:ext cx="11183112" cy="0"/>
          </a:xfrm>
          <a:prstGeom prst="line">
            <a:avLst/>
          </a:prstGeom>
          <a:ln w="12700">
            <a:solidFill>
              <a:srgbClr val="2D3A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475720" y="6510528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900" b="1">
                <a:solidFill>
                  <a:srgbClr val="4F6982"/>
                </a:solidFill>
                <a:latin typeface="Aptos"/>
              </a:rPr>
              <a:t>03</a:t>
            </a:r>
            <a:endParaRPr sz="900" b="1">
              <a:solidFill>
                <a:srgbClr val="4F6982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1060704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00" b="0">
                <a:solidFill>
                  <a:srgbClr val="4F6982"/>
                </a:solidFill>
                <a:latin typeface="Aptos"/>
              </a:rPr>
              <a:t>Reference: local CaP-X Franka cube-lifting demonstration</a:t>
            </a:r>
            <a:endParaRPr sz="800" b="0">
              <a:solidFill>
                <a:srgbClr val="4F6982"/>
              </a:solidFill>
              <a:latin typeface="Aptos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02920" y="1371600"/>
            <a:ext cx="361188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2E3C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371600"/>
            <a:ext cx="54864" cy="4251960"/>
          </a:xfrm>
          <a:prstGeom prst="rect">
            <a:avLst/>
          </a:prstGeom>
          <a:solidFill>
            <a:srgbClr val="008991"/>
          </a:solidFill>
          <a:ln>
            <a:solidFill>
              <a:srgbClr val="008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1536192"/>
            <a:ext cx="3227832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1">
                <a:solidFill>
                  <a:srgbClr val="132B44"/>
                </a:solidFill>
                <a:latin typeface="Aptos"/>
              </a:rPr>
              <a:t>1  Pseudo-code interface</a:t>
            </a:r>
            <a:endParaRPr sz="1600" b="1">
              <a:solidFill>
                <a:srgbClr val="132B44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04088" y="1984248"/>
            <a:ext cx="3227832" cy="35021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>
                <a:solidFill>
                  <a:srgbClr val="4F6982"/>
                </a:solidFill>
                <a:latin typeface="Aptos"/>
              </a:rPr>
              <a:t>High-level, readable robot workflow.
• Object pose / grasp pose
• Motion planning
• Robot and gripper commands
• Execution result</a:t>
            </a:r>
            <a:endParaRPr sz="1250" b="0">
              <a:solidFill>
                <a:srgbClr val="4F6982"/>
              </a:solidFill>
              <a:latin typeface="Aptos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2971800" y="1527048"/>
            <a:ext cx="932688" cy="274320"/>
          </a:xfrm>
          <a:prstGeom prst="roundRect">
            <a:avLst/>
          </a:prstGeom>
          <a:solidFill>
            <a:srgbClr val="008991"/>
          </a:solidFill>
          <a:ln>
            <a:solidFill>
              <a:srgbClr val="008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44952" y="1554480"/>
            <a:ext cx="786384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000" b="1">
                <a:solidFill>
                  <a:srgbClr val="008991"/>
                </a:solidFill>
                <a:latin typeface="Aptos"/>
              </a:rPr>
              <a:t>WORKFLOW</a:t>
            </a:r>
            <a:endParaRPr sz="1000" b="1">
              <a:solidFill>
                <a:srgbClr val="008991"/>
              </a:solidFill>
              <a:latin typeface="Aptos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4288536" y="1371600"/>
            <a:ext cx="361188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2E3C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88536" y="1371600"/>
            <a:ext cx="54864" cy="4251960"/>
          </a:xfrm>
          <a:prstGeom prst="rect">
            <a:avLst/>
          </a:prstGeom>
          <a:solidFill>
            <a:srgbClr val="2369BE"/>
          </a:solidFill>
          <a:ln>
            <a:solidFill>
              <a:srgbClr val="236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9704" y="1536192"/>
            <a:ext cx="3227832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1">
                <a:solidFill>
                  <a:srgbClr val="132B44"/>
                </a:solidFill>
                <a:latin typeface="Aptos"/>
              </a:rPr>
              <a:t>2  YAML task configuration</a:t>
            </a:r>
            <a:endParaRPr sz="1600" b="1">
              <a:solidFill>
                <a:srgbClr val="132B44"/>
              </a:solidFill>
              <a:latin typeface="Apto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489704" y="1984248"/>
            <a:ext cx="3227832" cy="35021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>
                <a:solidFill>
                  <a:srgbClr val="4F6982"/>
                </a:solidFill>
                <a:latin typeface="Aptos"/>
              </a:rPr>
              <a:t>Reproducible task setup.
• Robot and simulator
• APIs and task prompt
• Model / workflow
• Visualization and outputs</a:t>
            </a:r>
            <a:endParaRPr sz="1250" b="0">
              <a:solidFill>
                <a:srgbClr val="4F6982"/>
              </a:solidFill>
              <a:latin typeface="Aptos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6757416" y="1527048"/>
            <a:ext cx="932688" cy="274320"/>
          </a:xfrm>
          <a:prstGeom prst="roundRect">
            <a:avLst/>
          </a:prstGeom>
          <a:solidFill>
            <a:srgbClr val="2369BE"/>
          </a:solidFill>
          <a:ln>
            <a:solidFill>
              <a:srgbClr val="236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30568" y="1554480"/>
            <a:ext cx="786384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000" b="1">
                <a:solidFill>
                  <a:srgbClr val="2369BE"/>
                </a:solidFill>
                <a:latin typeface="Aptos"/>
              </a:rPr>
              <a:t>CONFIG</a:t>
            </a:r>
            <a:endParaRPr sz="1000" b="1">
              <a:solidFill>
                <a:srgbClr val="2369BE"/>
              </a:solidFill>
              <a:latin typeface="Aptos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8074152" y="1371600"/>
            <a:ext cx="361188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2E3C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74152" y="1371600"/>
            <a:ext cx="54864" cy="4251960"/>
          </a:xfrm>
          <a:prstGeom prst="rect">
            <a:avLst/>
          </a:prstGeom>
          <a:solidFill>
            <a:srgbClr val="7043AF"/>
          </a:solidFill>
          <a:ln>
            <a:solidFill>
              <a:srgbClr val="704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5320" y="1536192"/>
            <a:ext cx="3227832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1">
                <a:solidFill>
                  <a:srgbClr val="132B44"/>
                </a:solidFill>
                <a:latin typeface="Aptos"/>
              </a:rPr>
              <a:t>3  3D visualization</a:t>
            </a:r>
            <a:endParaRPr sz="1600" b="1">
              <a:solidFill>
                <a:srgbClr val="132B44"/>
              </a:solidFill>
              <a:latin typeface="Apto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275320" y="1984248"/>
            <a:ext cx="3227832" cy="35021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>
                <a:solidFill>
                  <a:srgbClr val="4F6982"/>
                </a:solidFill>
                <a:latin typeface="Aptos"/>
              </a:rPr>
              <a:t>Live execution context.
• Robot and object state
• Camera view and frames
• Grasps and trajectories
• Interactive inspection</a:t>
            </a:r>
            <a:endParaRPr sz="1250" b="0">
              <a:solidFill>
                <a:srgbClr val="4F6982"/>
              </a:solidFill>
              <a:latin typeface="Aptos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10543032" y="1527048"/>
            <a:ext cx="932688" cy="274320"/>
          </a:xfrm>
          <a:prstGeom prst="roundRect">
            <a:avLst/>
          </a:prstGeom>
          <a:solidFill>
            <a:srgbClr val="7043AF"/>
          </a:solidFill>
          <a:ln>
            <a:solidFill>
              <a:srgbClr val="704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616184" y="1554480"/>
            <a:ext cx="786384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000" b="1">
                <a:solidFill>
                  <a:srgbClr val="7043AF"/>
                </a:solidFill>
                <a:latin typeface="Aptos"/>
              </a:rPr>
              <a:t>VISER</a:t>
            </a:r>
            <a:endParaRPr sz="1000" b="1">
              <a:solidFill>
                <a:srgbClr val="7043AF"/>
              </a:solidFill>
              <a:latin typeface="Aptos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960120" y="5870448"/>
            <a:ext cx="10287000" cy="420624"/>
          </a:xfrm>
          <a:prstGeom prst="roundRect">
            <a:avLst/>
          </a:prstGeom>
          <a:solidFill>
            <a:srgbClr val="E2F0FD"/>
          </a:solidFill>
          <a:ln>
            <a:solidFill>
              <a:srgbClr val="587D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43000" y="5980176"/>
            <a:ext cx="992124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150" b="1">
                <a:solidFill>
                  <a:srgbClr val="2369BE"/>
                </a:solidFill>
                <a:latin typeface="Aptos"/>
              </a:rPr>
              <a:t>Task YAML</a:t>
            </a:r>
            <a:r>
              <a:rPr sz="1150" b="1">
                <a:solidFill>
                  <a:srgbClr val="008991"/>
                </a:solidFill>
                <a:latin typeface="Aptos"/>
              </a:rPr>
              <a:t>  →  high-level Python workflow</a:t>
            </a:r>
            <a:r>
              <a:rPr sz="1150" b="1">
                <a:solidFill>
                  <a:srgbClr val="B57700"/>
                </a:solidFill>
                <a:latin typeface="Aptos"/>
              </a:rPr>
              <a:t>  →  perception / planning / motion services</a:t>
            </a:r>
            <a:r>
              <a:rPr sz="1150" b="1">
                <a:solidFill>
                  <a:srgbClr val="7043AF"/>
                </a:solidFill>
                <a:latin typeface="Aptos"/>
              </a:rPr>
              <a:t>  →  live 3D evidence</a:t>
            </a:r>
            <a:endParaRPr sz="1150" b="1">
              <a:solidFill>
                <a:srgbClr val="7043AF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92608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1">
                <a:solidFill>
                  <a:srgbClr val="008991"/>
                </a:solidFill>
                <a:latin typeface="Aptos"/>
              </a:rPr>
              <a:t>MODULE VIEW</a:t>
            </a:r>
            <a:endParaRPr sz="1000" b="1">
              <a:solidFill>
                <a:srgbClr val="008991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064240" cy="4754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700" b="1">
                <a:solidFill>
                  <a:srgbClr val="132B44"/>
                </a:solidFill>
                <a:latin typeface="Aptos"/>
              </a:rPr>
              <a:t>Agentic robot APIs and current implementations</a:t>
            </a:r>
            <a:endParaRPr sz="2700" b="1">
              <a:solidFill>
                <a:srgbClr val="132B44"/>
              </a:solidFill>
              <a:latin typeface="Aptos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502920" y="1124712"/>
            <a:ext cx="11183112" cy="0"/>
          </a:xfrm>
          <a:prstGeom prst="line">
            <a:avLst/>
          </a:prstGeom>
          <a:ln w="12700">
            <a:solidFill>
              <a:srgbClr val="2D3A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475720" y="6510528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900" b="1">
                <a:solidFill>
                  <a:srgbClr val="4F6982"/>
                </a:solidFill>
                <a:latin typeface="Aptos"/>
              </a:rPr>
              <a:t>04</a:t>
            </a:r>
            <a:endParaRPr sz="900" b="1">
              <a:solidFill>
                <a:srgbClr val="4F6982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1060704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00" b="0">
                <a:solidFill>
                  <a:srgbClr val="4F6982"/>
                </a:solidFill>
                <a:latin typeface="Aptos"/>
              </a:rPr>
              <a:t>Sources: agentic_robots/apis · agentic_robots/services · Isaac ROS manipulation workflow</a:t>
            </a:r>
            <a:endParaRPr sz="800" b="0">
              <a:solidFill>
                <a:srgbClr val="4F6982"/>
              </a:solidFill>
              <a:latin typeface="Aptos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66928" y="1353312"/>
            <a:ext cx="2395728" cy="493776"/>
          </a:xfrm>
          <a:prstGeom prst="roundRect">
            <a:avLst/>
          </a:prstGeom>
          <a:solidFill>
            <a:srgbClr val="DCEDFC"/>
          </a:solidFill>
          <a:ln>
            <a:solidFill>
              <a:srgbClr val="008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490472"/>
            <a:ext cx="2212848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300" b="1">
                <a:solidFill>
                  <a:srgbClr val="008991"/>
                </a:solidFill>
                <a:latin typeface="Aptos"/>
              </a:rPr>
              <a:t>Task intent</a:t>
            </a:r>
            <a:endParaRPr sz="1300" b="1">
              <a:solidFill>
                <a:srgbClr val="008991"/>
              </a:solidFill>
              <a:latin typeface="Aptos"/>
            </a:endParaRPr>
          </a:p>
        </p:txBody>
      </p:sp>
      <p:cxnSp>
        <p:nvCxnSpPr>
          <p:cNvPr id="9" name="Connector 8"/>
          <p:cNvCxnSpPr/>
          <p:nvPr/>
        </p:nvCxnSpPr>
        <p:spPr>
          <a:xfrm>
            <a:off x="2962656" y="1600200"/>
            <a:ext cx="393192" cy="0"/>
          </a:xfrm>
          <a:prstGeom prst="line">
            <a:avLst/>
          </a:prstGeom>
          <a:ln w="25400">
            <a:solidFill>
              <a:srgbClr val="4F69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355848" y="1353312"/>
            <a:ext cx="2395728" cy="493776"/>
          </a:xfrm>
          <a:prstGeom prst="roundRect">
            <a:avLst/>
          </a:prstGeom>
          <a:solidFill>
            <a:srgbClr val="DCEDFC"/>
          </a:solidFill>
          <a:ln>
            <a:solidFill>
              <a:srgbClr val="704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47288" y="1490472"/>
            <a:ext cx="2212848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300" b="1">
                <a:solidFill>
                  <a:srgbClr val="7043AF"/>
                </a:solidFill>
                <a:latin typeface="Aptos"/>
              </a:rPr>
              <a:t>CodeAgent</a:t>
            </a:r>
            <a:endParaRPr sz="1300" b="1">
              <a:solidFill>
                <a:srgbClr val="7043AF"/>
              </a:solidFill>
              <a:latin typeface="Aptos"/>
            </a:endParaRPr>
          </a:p>
        </p:txBody>
      </p:sp>
      <p:cxnSp>
        <p:nvCxnSpPr>
          <p:cNvPr id="12" name="Connector 11"/>
          <p:cNvCxnSpPr/>
          <p:nvPr/>
        </p:nvCxnSpPr>
        <p:spPr>
          <a:xfrm>
            <a:off x="5751576" y="1600200"/>
            <a:ext cx="393192" cy="0"/>
          </a:xfrm>
          <a:prstGeom prst="line">
            <a:avLst/>
          </a:prstGeom>
          <a:ln w="25400">
            <a:solidFill>
              <a:srgbClr val="4F69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144768" y="1353312"/>
            <a:ext cx="2395728" cy="493776"/>
          </a:xfrm>
          <a:prstGeom prst="roundRect">
            <a:avLst/>
          </a:prstGeom>
          <a:solidFill>
            <a:srgbClr val="DCEDFC"/>
          </a:solidFill>
          <a:ln>
            <a:solidFill>
              <a:srgbClr val="B57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36207" y="1490472"/>
            <a:ext cx="2212848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300" b="1">
                <a:solidFill>
                  <a:srgbClr val="B57700"/>
                </a:solidFill>
                <a:latin typeface="Aptos"/>
              </a:rPr>
              <a:t>Allowlisted runtime</a:t>
            </a:r>
            <a:endParaRPr sz="1300" b="1">
              <a:solidFill>
                <a:srgbClr val="B57700"/>
              </a:solidFill>
              <a:latin typeface="Aptos"/>
            </a:endParaRPr>
          </a:p>
        </p:txBody>
      </p:sp>
      <p:cxnSp>
        <p:nvCxnSpPr>
          <p:cNvPr id="15" name="Connector 14"/>
          <p:cNvCxnSpPr/>
          <p:nvPr/>
        </p:nvCxnSpPr>
        <p:spPr>
          <a:xfrm>
            <a:off x="8540496" y="1600200"/>
            <a:ext cx="393192" cy="0"/>
          </a:xfrm>
          <a:prstGeom prst="line">
            <a:avLst/>
          </a:prstGeom>
          <a:ln w="25400">
            <a:solidFill>
              <a:srgbClr val="4F69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8933687" y="1353312"/>
            <a:ext cx="2395728" cy="493776"/>
          </a:xfrm>
          <a:prstGeom prst="roundRect">
            <a:avLst/>
          </a:prstGeom>
          <a:solidFill>
            <a:srgbClr val="DCEDFC"/>
          </a:solidFill>
          <a:ln>
            <a:solidFill>
              <a:srgbClr val="236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25127" y="1490472"/>
            <a:ext cx="2212848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300" b="1">
                <a:solidFill>
                  <a:srgbClr val="2369BE"/>
                </a:solidFill>
                <a:latin typeface="Aptos"/>
              </a:rPr>
              <a:t>Robot capabilities</a:t>
            </a:r>
            <a:endParaRPr sz="1300" b="1">
              <a:solidFill>
                <a:srgbClr val="2369BE"/>
              </a:solidFill>
              <a:latin typeface="Aptos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566928" y="2148840"/>
            <a:ext cx="3401568" cy="3456432"/>
          </a:xfrm>
          <a:prstGeom prst="roundRect">
            <a:avLst/>
          </a:prstGeom>
          <a:solidFill>
            <a:srgbClr val="FFFFFF"/>
          </a:solidFill>
          <a:ln>
            <a:solidFill>
              <a:srgbClr val="2E3C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66928" y="2148840"/>
            <a:ext cx="54864" cy="3456432"/>
          </a:xfrm>
          <a:prstGeom prst="rect">
            <a:avLst/>
          </a:prstGeom>
          <a:solidFill>
            <a:srgbClr val="008991"/>
          </a:solidFill>
          <a:ln>
            <a:solidFill>
              <a:srgbClr val="008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6" y="2313432"/>
            <a:ext cx="301752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1">
                <a:solidFill>
                  <a:srgbClr val="132B44"/>
                </a:solidFill>
                <a:latin typeface="Aptos"/>
              </a:rPr>
              <a:t>Robot Control API</a:t>
            </a:r>
            <a:endParaRPr sz="1600" b="1">
              <a:solidFill>
                <a:srgbClr val="132B44"/>
              </a:solidFill>
              <a:latin typeface="Apto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68096" y="2761488"/>
            <a:ext cx="3017520" cy="270662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>
                <a:solidFill>
                  <a:srgbClr val="4F6982"/>
                </a:solidFill>
                <a:latin typeface="Aptos"/>
              </a:rPr>
              <a:t>Interface
• pose and robot state
• Cartesian/joint motion
• gripper open/close
Current implementation
• ActionApi
• FrankaReal + libfranka bridge
• FrankaSim / PyBullet</a:t>
            </a:r>
            <a:endParaRPr sz="1250" b="0">
              <a:solidFill>
                <a:srgbClr val="4F6982"/>
              </a:solidFill>
              <a:latin typeface="Aptos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4389120" y="2148840"/>
            <a:ext cx="3401568" cy="3456432"/>
          </a:xfrm>
          <a:prstGeom prst="roundRect">
            <a:avLst/>
          </a:prstGeom>
          <a:solidFill>
            <a:srgbClr val="FFFFFF"/>
          </a:solidFill>
          <a:ln>
            <a:solidFill>
              <a:srgbClr val="2E3C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89120" y="2148840"/>
            <a:ext cx="54864" cy="3456432"/>
          </a:xfrm>
          <a:prstGeom prst="rect">
            <a:avLst/>
          </a:prstGeom>
          <a:solidFill>
            <a:srgbClr val="2369BE"/>
          </a:solidFill>
          <a:ln>
            <a:solidFill>
              <a:srgbClr val="236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90288" y="2313432"/>
            <a:ext cx="301752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1">
                <a:solidFill>
                  <a:srgbClr val="132B44"/>
                </a:solidFill>
                <a:latin typeface="Aptos"/>
              </a:rPr>
              <a:t>Perception API</a:t>
            </a:r>
            <a:endParaRPr sz="1600" b="1">
              <a:solidFill>
                <a:srgbClr val="132B44"/>
              </a:solidFill>
              <a:latin typeface="Aptos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590288" y="2761488"/>
            <a:ext cx="3017520" cy="199580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>
                <a:solidFill>
                  <a:srgbClr val="4F6982"/>
                </a:solidFill>
                <a:latin typeface="Aptos"/>
              </a:rPr>
              <a:t>Interface
• object segmentation and pose
• point-cloud extraction
• grasp candidates
Current implementation
• SAM3 segmentation service
• Contact-GraspNet grasp service
</a:t>
            </a:r>
            <a:r>
              <a:rPr sz="1250">
                <a:solidFill>
                  <a:srgbClr val="4F6982"/>
                </a:solidFill>
                <a:latin typeface="Aptos"/>
                <a:sym typeface="+mn-ea"/>
              </a:rPr>
              <a:t>• </a:t>
            </a:r>
            <a:r>
              <a:rPr lang="en-US" sz="1250">
                <a:solidFill>
                  <a:srgbClr val="4F6982"/>
                </a:solidFill>
                <a:latin typeface="Aptos"/>
                <a:sym typeface="+mn-ea"/>
              </a:rPr>
              <a:t>Fundation Pose Estimation</a:t>
            </a:r>
            <a:endParaRPr sz="1250">
              <a:solidFill>
                <a:srgbClr val="4F6982"/>
              </a:solidFill>
              <a:latin typeface="Aptos"/>
              <a:sym typeface="+mn-ea"/>
            </a:endParaRPr>
          </a:p>
          <a:p>
            <a:pPr algn="l"/>
            <a:r>
              <a:rPr sz="1250" b="0">
                <a:solidFill>
                  <a:srgbClr val="4F6982"/>
                </a:solidFill>
                <a:latin typeface="Aptos"/>
              </a:rPr>
              <a:t>• calibrated D455 observations</a:t>
            </a:r>
            <a:endParaRPr sz="1250" b="0">
              <a:solidFill>
                <a:srgbClr val="4F6982"/>
              </a:solidFill>
              <a:latin typeface="Aptos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8218932" y="2148840"/>
            <a:ext cx="3401568" cy="3456432"/>
          </a:xfrm>
          <a:prstGeom prst="roundRect">
            <a:avLst/>
          </a:prstGeom>
          <a:solidFill>
            <a:srgbClr val="FFFFFF"/>
          </a:solidFill>
          <a:ln>
            <a:solidFill>
              <a:srgbClr val="2E3C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211312" y="2148840"/>
            <a:ext cx="54864" cy="3456432"/>
          </a:xfrm>
          <a:prstGeom prst="rect">
            <a:avLst/>
          </a:prstGeom>
          <a:solidFill>
            <a:srgbClr val="7043AF"/>
          </a:solidFill>
          <a:ln>
            <a:solidFill>
              <a:srgbClr val="704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12480" y="2313432"/>
            <a:ext cx="301752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1">
                <a:solidFill>
                  <a:srgbClr val="132B44"/>
                </a:solidFill>
                <a:latin typeface="Aptos"/>
              </a:rPr>
              <a:t>Planning API</a:t>
            </a:r>
            <a:endParaRPr sz="1600" b="1">
              <a:solidFill>
                <a:srgbClr val="132B44"/>
              </a:solidFill>
              <a:latin typeface="Aptos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8412480" y="2761488"/>
            <a:ext cx="3017520" cy="199580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>
                <a:solidFill>
                  <a:srgbClr val="4F6982"/>
                </a:solidFill>
                <a:latin typeface="Aptos"/>
              </a:rPr>
              <a:t>Interface
• IK and target-pose planning
• collision-aware trajectory
• execute / cancel / report
Current implementation
• PyRoKi motion service (experimental)
• cuMotion + nvblox available in Isaac ROS
</a:t>
            </a:r>
            <a:endParaRPr sz="1250" b="0">
              <a:solidFill>
                <a:srgbClr val="4F6982"/>
              </a:solidFill>
              <a:latin typeface="Aptos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868680" y="5879592"/>
            <a:ext cx="10469880" cy="384048"/>
          </a:xfrm>
          <a:prstGeom prst="roundRect">
            <a:avLst/>
          </a:prstGeom>
          <a:solidFill>
            <a:srgbClr val="E2F0FD"/>
          </a:solidFill>
          <a:ln>
            <a:solidFill>
              <a:srgbClr val="587D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51560" y="5980176"/>
            <a:ext cx="1010412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050" b="1">
                <a:solidFill>
                  <a:srgbClr val="132B44"/>
                </a:solidFill>
                <a:latin typeface="Aptos"/>
              </a:rPr>
              <a:t>Current path: </a:t>
            </a:r>
            <a:r>
              <a:rPr sz="1050" b="1">
                <a:solidFill>
                  <a:srgbClr val="2369BE"/>
                </a:solidFill>
                <a:latin typeface="Aptos"/>
              </a:rPr>
              <a:t>SAM3 → mask</a:t>
            </a:r>
            <a:r>
              <a:rPr sz="1050" b="1">
                <a:solidFill>
                  <a:srgbClr val="008991"/>
                </a:solidFill>
                <a:latin typeface="Aptos"/>
              </a:rPr>
              <a:t>  •  GraspNet → grasp</a:t>
            </a:r>
            <a:r>
              <a:rPr sz="1050" b="1">
                <a:solidFill>
                  <a:srgbClr val="7043AF"/>
                </a:solidFill>
                <a:latin typeface="Aptos"/>
              </a:rPr>
              <a:t>  •  PyRoKi / cuMotion → trajectory</a:t>
            </a:r>
            <a:r>
              <a:rPr sz="1050" b="1">
                <a:solidFill>
                  <a:srgbClr val="B57700"/>
                </a:solidFill>
                <a:latin typeface="Aptos"/>
              </a:rPr>
              <a:t>  •  robot backend → motion</a:t>
            </a:r>
            <a:endParaRPr sz="1050" b="1">
              <a:solidFill>
                <a:srgbClr val="B5770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384048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000" b="1">
                <a:solidFill>
                  <a:srgbClr val="008991"/>
                </a:solidFill>
                <a:latin typeface="Aptos"/>
              </a:rPr>
              <a:t>PICKER2 LEARNING ROADMAP</a:t>
            </a:r>
            <a:endParaRPr sz="1000" b="1">
              <a:solidFill>
                <a:srgbClr val="008991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0515600" cy="5029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700" b="1">
                <a:solidFill>
                  <a:srgbClr val="132B44"/>
                </a:solidFill>
                <a:latin typeface="Aptos"/>
              </a:rPr>
              <a:t>From Genesis simulation to the cargo robot</a:t>
            </a:r>
            <a:endParaRPr sz="2700" b="1">
              <a:solidFill>
                <a:srgbClr val="132B44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201400" y="310896"/>
            <a:ext cx="45720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900" b="0">
                <a:solidFill>
                  <a:srgbClr val="4F6982"/>
                </a:solidFill>
                <a:latin typeface="Aptos"/>
              </a:rPr>
              <a:t>05</a:t>
            </a:r>
            <a:endParaRPr sz="900" b="0">
              <a:solidFill>
                <a:srgbClr val="4F6982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21207" y="1060704"/>
            <a:ext cx="10789920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000" b="0">
                <a:solidFill>
                  <a:srgbClr val="4F6982"/>
                </a:solidFill>
                <a:latin typeface="Aptos"/>
              </a:rPr>
              <a:t>Four validation gates; each stage preserves physical contact and measurable task success</a:t>
            </a:r>
            <a:endParaRPr sz="1000" b="0">
              <a:solidFill>
                <a:srgbClr val="4F6982"/>
              </a:solidFill>
              <a:latin typeface="Apto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1371600"/>
            <a:ext cx="11155680" cy="22860"/>
          </a:xfrm>
          <a:prstGeom prst="rect">
            <a:avLst/>
          </a:prstGeom>
          <a:solidFill>
            <a:srgbClr val="DFE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719072"/>
            <a:ext cx="2514600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DFEC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67512" y="1901952"/>
            <a:ext cx="475488" cy="292608"/>
          </a:xfrm>
          <a:prstGeom prst="roundRect">
            <a:avLst/>
          </a:prstGeom>
          <a:solidFill>
            <a:srgbClr val="008991"/>
          </a:solidFill>
          <a:ln>
            <a:solidFill>
              <a:srgbClr val="008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1</a:t>
            </a:r>
            <a:endParaRPr sz="9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67512" y="2359152"/>
            <a:ext cx="2157984" cy="53035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600" b="1">
                <a:solidFill>
                  <a:srgbClr val="132B44"/>
                </a:solidFill>
                <a:latin typeface="Aptos"/>
              </a:rPr>
              <a:t>SIMULATION SETUP</a:t>
            </a:r>
            <a:endParaRPr sz="1600" b="1">
              <a:solidFill>
                <a:srgbClr val="132B44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67512" y="2999232"/>
            <a:ext cx="2157984" cy="1035685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300" b="0">
                <a:solidFill>
                  <a:srgbClr val="4F6982"/>
                </a:solidFill>
                <a:latin typeface="Aptos"/>
              </a:rPr>
              <a:t>Robot + D455 + hook fingertips
Two 4 kg suitcase proxies
Cargo platform and 8×8 scene</a:t>
            </a:r>
            <a:endParaRPr sz="1300" b="0">
              <a:solidFill>
                <a:srgbClr val="4F6982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044952" y="3246120"/>
            <a:ext cx="256032" cy="3657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900" b="1">
                <a:solidFill>
                  <a:srgbClr val="4F6982"/>
                </a:solidFill>
                <a:latin typeface="Aptos"/>
              </a:rPr>
              <a:t>→</a:t>
            </a:r>
            <a:endParaRPr sz="1900" b="1">
              <a:solidFill>
                <a:srgbClr val="4F6982"/>
              </a:solidFill>
              <a:latin typeface="Aptos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3319272" y="1719072"/>
            <a:ext cx="2514600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DFEC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483864" y="1901952"/>
            <a:ext cx="475488" cy="292608"/>
          </a:xfrm>
          <a:prstGeom prst="roundRect">
            <a:avLst/>
          </a:prstGeom>
          <a:solidFill>
            <a:srgbClr val="2369BE"/>
          </a:solidFill>
          <a:ln>
            <a:solidFill>
              <a:srgbClr val="236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2</a:t>
            </a:r>
            <a:endParaRPr sz="9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483864" y="2359152"/>
            <a:ext cx="2157984" cy="53035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600" b="1">
                <a:solidFill>
                  <a:srgbClr val="132B44"/>
                </a:solidFill>
                <a:latin typeface="Aptos"/>
              </a:rPr>
              <a:t>STATE-BASED RL</a:t>
            </a:r>
            <a:endParaRPr sz="1600" b="1">
              <a:solidFill>
                <a:srgbClr val="132B44"/>
              </a:solidFill>
              <a:latin typeface="Apto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483864" y="2999232"/>
            <a:ext cx="2157984" cy="1417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300" b="0">
                <a:solidFill>
                  <a:srgbClr val="4F6982"/>
                </a:solidFill>
                <a:latin typeface="Aptos"/>
              </a:rPr>
              <a:t>Privileged geometry + proprioception
Reach → grasp → lift → rotate
Place → release → retreat</a:t>
            </a:r>
            <a:endParaRPr sz="1300" b="0">
              <a:solidFill>
                <a:srgbClr val="4F6982"/>
              </a:solidFill>
              <a:latin typeface="Apto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861304" y="3246120"/>
            <a:ext cx="256032" cy="3657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900" b="1">
                <a:solidFill>
                  <a:srgbClr val="4F6982"/>
                </a:solidFill>
                <a:latin typeface="Aptos"/>
              </a:rPr>
              <a:t>→</a:t>
            </a:r>
            <a:endParaRPr sz="1900" b="1">
              <a:solidFill>
                <a:srgbClr val="4F6982"/>
              </a:solidFill>
              <a:latin typeface="Aptos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6135624" y="1719072"/>
            <a:ext cx="2514600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DFEC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300216" y="1901952"/>
            <a:ext cx="475488" cy="292608"/>
          </a:xfrm>
          <a:prstGeom prst="roundRect">
            <a:avLst/>
          </a:prstGeom>
          <a:solidFill>
            <a:srgbClr val="7043AF"/>
          </a:solidFill>
          <a:ln>
            <a:solidFill>
              <a:srgbClr val="704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3</a:t>
            </a:r>
            <a:endParaRPr sz="9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300216" y="2359152"/>
            <a:ext cx="2157984" cy="53035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600" b="1">
                <a:solidFill>
                  <a:srgbClr val="132B44"/>
                </a:solidFill>
                <a:latin typeface="Aptos"/>
              </a:rPr>
              <a:t>STATE + RGB-D</a:t>
            </a:r>
            <a:endParaRPr sz="1600" b="1">
              <a:solidFill>
                <a:srgbClr val="132B44"/>
              </a:solidFill>
              <a:latin typeface="Apto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300216" y="2999232"/>
            <a:ext cx="2157984" cy="1417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300" b="0">
                <a:solidFill>
                  <a:srgbClr val="4F6982"/>
                </a:solidFill>
                <a:latin typeface="Aptos"/>
              </a:rPr>
              <a:t>Wrist D455 RGB and depth
Visual encoder + robot state
Distill from state-based teacher</a:t>
            </a:r>
            <a:endParaRPr sz="1300" b="0">
              <a:solidFill>
                <a:srgbClr val="4F6982"/>
              </a:solidFill>
              <a:latin typeface="Apto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677656" y="3246120"/>
            <a:ext cx="256032" cy="3657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900" b="1">
                <a:solidFill>
                  <a:srgbClr val="4F6982"/>
                </a:solidFill>
                <a:latin typeface="Aptos"/>
              </a:rPr>
              <a:t>→</a:t>
            </a:r>
            <a:endParaRPr sz="1900" b="1">
              <a:solidFill>
                <a:srgbClr val="4F6982"/>
              </a:solidFill>
              <a:latin typeface="Aptos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8951976" y="1719072"/>
            <a:ext cx="2514600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DFEC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116568" y="1901952"/>
            <a:ext cx="475488" cy="292608"/>
          </a:xfrm>
          <a:prstGeom prst="roundRect">
            <a:avLst/>
          </a:prstGeom>
          <a:solidFill>
            <a:srgbClr val="19874F"/>
          </a:solidFill>
          <a:ln>
            <a:solidFill>
              <a:srgbClr val="1987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4</a:t>
            </a:r>
            <a:endParaRPr sz="9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9116568" y="2359152"/>
            <a:ext cx="2157984" cy="53035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600" b="1">
                <a:solidFill>
                  <a:srgbClr val="132B44"/>
                </a:solidFill>
                <a:latin typeface="Aptos"/>
              </a:rPr>
              <a:t>REAL ROBOT</a:t>
            </a:r>
            <a:endParaRPr sz="1600" b="1">
              <a:solidFill>
                <a:srgbClr val="132B44"/>
              </a:solidFill>
              <a:latin typeface="Aptos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9116568" y="2999232"/>
            <a:ext cx="2157984" cy="1417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300" b="0">
                <a:solidFill>
                  <a:srgbClr val="4F6982"/>
                </a:solidFill>
                <a:latin typeface="Aptos"/>
              </a:rPr>
              <a:t>Calibration and safety limits
Domain randomization
Slow staged deployment</a:t>
            </a:r>
            <a:endParaRPr sz="1300" b="0">
              <a:solidFill>
                <a:srgbClr val="4F6982"/>
              </a:solidFill>
              <a:latin typeface="Aptos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566928" y="5797296"/>
            <a:ext cx="10972800" cy="38404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400" b="1">
                <a:solidFill>
                  <a:srgbClr val="132B44"/>
                </a:solidFill>
                <a:latin typeface="Aptos"/>
              </a:rPr>
              <a:t>Final objective: start at home, physically grasp the handle, load flat with handle toward +X, release, and return safe.</a:t>
            </a:r>
            <a:endParaRPr sz="1400" b="1">
              <a:solidFill>
                <a:srgbClr val="132B44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384048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000" b="1">
                <a:solidFill>
                  <a:srgbClr val="008991"/>
                </a:solidFill>
                <a:latin typeface="Aptos"/>
              </a:rPr>
              <a:t>1 · SIMULATION SETUP</a:t>
            </a:r>
            <a:endParaRPr sz="1000" b="1">
              <a:solidFill>
                <a:srgbClr val="008991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0515600" cy="5029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700" b="1">
                <a:solidFill>
                  <a:srgbClr val="132B44"/>
                </a:solidFill>
                <a:latin typeface="Aptos"/>
              </a:rPr>
              <a:t>One Genesis scene, realistic Picker2 contacts</a:t>
            </a:r>
            <a:endParaRPr sz="2700" b="1">
              <a:solidFill>
                <a:srgbClr val="132B44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201400" y="310896"/>
            <a:ext cx="45720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900" b="0">
                <a:solidFill>
                  <a:srgbClr val="4F6982"/>
                </a:solidFill>
                <a:latin typeface="Aptos"/>
              </a:rPr>
              <a:t>06</a:t>
            </a:r>
            <a:endParaRPr sz="900" b="0">
              <a:solidFill>
                <a:srgbClr val="4F6982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21207" y="1060704"/>
            <a:ext cx="10789920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000" b="0">
                <a:solidFill>
                  <a:srgbClr val="4F6982"/>
                </a:solidFill>
                <a:latin typeface="Aptos"/>
              </a:rPr>
              <a:t>Assets are generated from the Picker2 ROS description; luggage visuals are aligned to collision geometry</a:t>
            </a:r>
            <a:endParaRPr sz="1000" b="0">
              <a:solidFill>
                <a:srgbClr val="4F6982"/>
              </a:solidFill>
              <a:latin typeface="Apto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1371600"/>
            <a:ext cx="11155680" cy="22860"/>
          </a:xfrm>
          <a:prstGeom prst="rect">
            <a:avLst/>
          </a:prstGeom>
          <a:solidFill>
            <a:srgbClr val="DFE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picker2_rl_simulation_poste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665732"/>
            <a:ext cx="5623560" cy="4224528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58368" y="1783080"/>
            <a:ext cx="1572768" cy="292608"/>
          </a:xfrm>
          <a:prstGeom prst="roundRect">
            <a:avLst/>
          </a:prstGeom>
          <a:solidFill>
            <a:srgbClr val="008991"/>
          </a:solidFill>
          <a:ln>
            <a:solidFill>
              <a:srgbClr val="008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SINGLE ENVIRONMENT</a:t>
            </a:r>
            <a:endParaRPr sz="9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461125" y="1587500"/>
            <a:ext cx="1417320" cy="292608"/>
          </a:xfrm>
          <a:prstGeom prst="roundRect">
            <a:avLst/>
          </a:prstGeom>
          <a:solidFill>
            <a:srgbClr val="2369BE"/>
          </a:solidFill>
          <a:ln>
            <a:solidFill>
              <a:srgbClr val="236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8 × 8 TRAINING</a:t>
            </a:r>
            <a:endParaRPr sz="9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58368" y="5230368"/>
            <a:ext cx="5230368" cy="4846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00" b="1">
                <a:solidFill>
                  <a:srgbClr val="132B44"/>
                </a:solidFill>
                <a:latin typeface="Aptos"/>
              </a:rPr>
              <a:t>Stationary Picker2 base • D455 at the wrist • customized 2FG14 retaining fingertips</a:t>
            </a:r>
            <a:endParaRPr sz="1100" b="1">
              <a:solidFill>
                <a:srgbClr val="132B44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607175" y="5343398"/>
            <a:ext cx="5010912" cy="20447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lang="en-US" sz="1100" b="1">
                <a:solidFill>
                  <a:srgbClr val="132B44"/>
                </a:solidFill>
                <a:latin typeface="Aptos"/>
              </a:rPr>
              <a:t>Training E</a:t>
            </a:r>
            <a:r>
              <a:rPr sz="1100" b="1">
                <a:solidFill>
                  <a:srgbClr val="132B44"/>
                </a:solidFill>
                <a:latin typeface="Aptos"/>
              </a:rPr>
              <a:t>nvironments </a:t>
            </a:r>
            <a:endParaRPr sz="1100" b="1">
              <a:solidFill>
                <a:srgbClr val="132B44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76072" y="5971032"/>
            <a:ext cx="1097280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200" b="0">
                <a:solidFill>
                  <a:srgbClr val="4F6982"/>
                </a:solidFill>
                <a:latin typeface="Aptos"/>
              </a:rPr>
              <a:t>Physics: 4 kg luggage · primitive contact proxies · no fixed grasp constraint · bilateral fingertip contact</a:t>
            </a:r>
            <a:endParaRPr sz="1200" b="0">
              <a:solidFill>
                <a:srgbClr val="4F6982"/>
              </a:solidFill>
              <a:latin typeface="Aptos"/>
            </a:endParaRPr>
          </a:p>
        </p:txBody>
      </p:sp>
      <p:pic>
        <p:nvPicPr>
          <p:cNvPr id="14" name="Picture 13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901190"/>
            <a:ext cx="5058410" cy="331851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384048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000" b="1">
                <a:solidFill>
                  <a:srgbClr val="008991"/>
                </a:solidFill>
                <a:latin typeface="Aptos"/>
              </a:rPr>
              <a:t>2 · STATE-BASED RL</a:t>
            </a:r>
            <a:endParaRPr sz="1000" b="1">
              <a:solidFill>
                <a:srgbClr val="008991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0515600" cy="5029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700" b="1">
                <a:solidFill>
                  <a:srgbClr val="132B44"/>
                </a:solidFill>
                <a:latin typeface="Aptos"/>
              </a:rPr>
              <a:t>Actions, observations, rewards, and curriculum</a:t>
            </a:r>
            <a:endParaRPr sz="2700" b="1">
              <a:solidFill>
                <a:srgbClr val="132B44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201400" y="310896"/>
            <a:ext cx="45720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900" b="0">
                <a:solidFill>
                  <a:srgbClr val="4F6982"/>
                </a:solidFill>
                <a:latin typeface="Aptos"/>
              </a:rPr>
              <a:t>07</a:t>
            </a:r>
            <a:endParaRPr sz="900" b="0">
              <a:solidFill>
                <a:srgbClr val="4F6982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21207" y="1060704"/>
            <a:ext cx="10789920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000" b="0">
                <a:solidFill>
                  <a:srgbClr val="4F6982"/>
                </a:solidFill>
                <a:latin typeface="Aptos"/>
              </a:rPr>
              <a:t>PPO first learns with privileged state; success is determined by physical luggage state—not trajectory completion</a:t>
            </a:r>
            <a:endParaRPr sz="1000" b="0">
              <a:solidFill>
                <a:srgbClr val="4F6982"/>
              </a:solidFill>
              <a:latin typeface="Apto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1371600"/>
            <a:ext cx="11155680" cy="22860"/>
          </a:xfrm>
          <a:prstGeom prst="rect">
            <a:avLst/>
          </a:prstGeom>
          <a:solidFill>
            <a:srgbClr val="DFE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3218688" cy="3401568"/>
          </a:xfrm>
          <a:prstGeom prst="roundRect">
            <a:avLst/>
          </a:prstGeom>
          <a:solidFill>
            <a:srgbClr val="FFFFFF"/>
          </a:solidFill>
          <a:ln>
            <a:solidFill>
              <a:srgbClr val="DFEC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67512" y="1847088"/>
            <a:ext cx="1965960" cy="292608"/>
          </a:xfrm>
          <a:prstGeom prst="roundRect">
            <a:avLst/>
          </a:prstGeom>
          <a:solidFill>
            <a:srgbClr val="008991"/>
          </a:solidFill>
          <a:ln>
            <a:solidFill>
              <a:srgbClr val="008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ACTION · 7D</a:t>
            </a:r>
            <a:endParaRPr sz="9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85800" y="2395728"/>
            <a:ext cx="2816352" cy="2212848"/>
          </a:xfrm>
          <a:prstGeom prst="rect">
            <a:avLst/>
          </a:prstGeom>
          <a:noFill/>
        </p:spPr>
        <p:txBody>
          <a:bodyPr wrap="square" lIns="73152" rIns="36576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4F6982"/>
                </a:solidFill>
                <a:latin typeface="Aptos"/>
              </a:defRPr>
            </a:pPr>
            <a:r>
              <a:t>• Δx, Δy, Δz</a:t>
            </a:r>
          </a:p>
          <a:p>
            <a:pPr>
              <a:spcAft>
                <a:spcPts val="700"/>
              </a:spcAft>
              <a:defRPr sz="1300">
                <a:solidFill>
                  <a:srgbClr val="4F6982"/>
                </a:solidFill>
                <a:latin typeface="Aptos"/>
              </a:defRPr>
            </a:pPr>
            <a:r>
              <a:t>• Δroll, Δpitch, Δyaw</a:t>
            </a:r>
          </a:p>
          <a:p>
            <a:pPr>
              <a:spcAft>
                <a:spcPts val="700"/>
              </a:spcAft>
              <a:defRPr sz="1300">
                <a:solidFill>
                  <a:srgbClr val="4F6982"/>
                </a:solidFill>
                <a:latin typeface="Aptos"/>
              </a:defRPr>
            </a:pPr>
            <a:r>
              <a:t>• normalized gripper command</a:t>
            </a:r>
          </a:p>
          <a:p>
            <a:pPr>
              <a:spcAft>
                <a:spcPts val="700"/>
              </a:spcAft>
              <a:defRPr sz="1300">
                <a:solidFill>
                  <a:srgbClr val="4F6982"/>
                </a:solidFill>
                <a:latin typeface="Aptos"/>
              </a:defRPr>
            </a:pPr>
            <a:r>
              <a:t>• bounded at every control step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68496" y="1645920"/>
            <a:ext cx="3218688" cy="3401568"/>
          </a:xfrm>
          <a:prstGeom prst="roundRect">
            <a:avLst/>
          </a:prstGeom>
          <a:solidFill>
            <a:srgbClr val="FFFFFF"/>
          </a:solidFill>
          <a:ln>
            <a:solidFill>
              <a:srgbClr val="DFEC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133087" y="1847088"/>
            <a:ext cx="1965960" cy="292608"/>
          </a:xfrm>
          <a:prstGeom prst="roundRect">
            <a:avLst/>
          </a:prstGeom>
          <a:solidFill>
            <a:srgbClr val="2369BE"/>
          </a:solidFill>
          <a:ln>
            <a:solidFill>
              <a:srgbClr val="236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OBSERVATION · 63D</a:t>
            </a:r>
            <a:endParaRPr sz="9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151376" y="2395728"/>
            <a:ext cx="2816352" cy="2212848"/>
          </a:xfrm>
          <a:prstGeom prst="rect">
            <a:avLst/>
          </a:prstGeom>
          <a:noFill/>
        </p:spPr>
        <p:txBody>
          <a:bodyPr wrap="square" lIns="73152" rIns="36576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4F6982"/>
                </a:solidFill>
                <a:latin typeface="Aptos"/>
              </a:defRPr>
            </a:pPr>
            <a:r>
              <a:t>• 46D robot/luggage state</a:t>
            </a:r>
          </a:p>
          <a:p>
            <a:pPr>
              <a:spcAft>
                <a:spcPts val="700"/>
              </a:spcAft>
              <a:defRPr sz="1300">
                <a:solidFill>
                  <a:srgbClr val="4F6982"/>
                </a:solidFill>
                <a:latin typeface="Aptos"/>
              </a:defRPr>
            </a:pPr>
            <a:r>
              <a:t>• phase target Δposition + quaternion</a:t>
            </a:r>
          </a:p>
          <a:p>
            <a:pPr>
              <a:spcAft>
                <a:spcPts val="700"/>
              </a:spcAft>
              <a:defRPr sz="1300">
                <a:solidFill>
                  <a:srgbClr val="4F6982"/>
                </a:solidFill>
                <a:latin typeface="Aptos"/>
              </a:defRPr>
            </a:pPr>
            <a:r>
              <a:t>• 9D task-phase one-hot + age</a:t>
            </a:r>
          </a:p>
          <a:p>
            <a:pPr>
              <a:spcAft>
                <a:spcPts val="700"/>
              </a:spcAft>
              <a:defRPr sz="1300">
                <a:solidFill>
                  <a:srgbClr val="4F6982"/>
                </a:solidFill>
                <a:latin typeface="Aptos"/>
              </a:defRPr>
            </a:pPr>
            <a:r>
              <a:t>• TCP, handle, target and velocities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34072" y="1645920"/>
            <a:ext cx="3218688" cy="3401568"/>
          </a:xfrm>
          <a:prstGeom prst="roundRect">
            <a:avLst/>
          </a:prstGeom>
          <a:solidFill>
            <a:srgbClr val="FFFFFF"/>
          </a:solidFill>
          <a:ln>
            <a:solidFill>
              <a:srgbClr val="DFEC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598664" y="1847088"/>
            <a:ext cx="1965960" cy="292608"/>
          </a:xfrm>
          <a:prstGeom prst="roundRect">
            <a:avLst/>
          </a:prstGeom>
          <a:solidFill>
            <a:srgbClr val="7043AF"/>
          </a:solidFill>
          <a:ln>
            <a:solidFill>
              <a:srgbClr val="704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REWARD + TERMINATION</a:t>
            </a:r>
            <a:endParaRPr sz="9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616952" y="2395728"/>
            <a:ext cx="2816352" cy="2212848"/>
          </a:xfrm>
          <a:prstGeom prst="rect">
            <a:avLst/>
          </a:prstGeom>
          <a:noFill/>
        </p:spPr>
        <p:txBody>
          <a:bodyPr wrap="square" lIns="73152" rIns="36576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4F6982"/>
                </a:solidFill>
                <a:latin typeface="Aptos"/>
              </a:defRPr>
            </a:pPr>
            <a:r>
              <a:t>• target-distance progress</a:t>
            </a:r>
          </a:p>
          <a:p>
            <a:pPr>
              <a:spcAft>
                <a:spcPts val="700"/>
              </a:spcAft>
              <a:defRPr sz="1300">
                <a:solidFill>
                  <a:srgbClr val="4F6982"/>
                </a:solidFill>
                <a:latin typeface="Aptos"/>
              </a:defRPr>
            </a:pPr>
            <a:r>
              <a:t>• bilateral contact and retention</a:t>
            </a:r>
          </a:p>
          <a:p>
            <a:pPr>
              <a:spcAft>
                <a:spcPts val="700"/>
              </a:spcAft>
              <a:defRPr sz="1300">
                <a:solidFill>
                  <a:srgbClr val="4F6982"/>
                </a:solidFill>
                <a:latin typeface="Aptos"/>
              </a:defRPr>
            </a:pPr>
            <a:r>
              <a:t>• lift, flatness, target pose, +X handle</a:t>
            </a:r>
          </a:p>
          <a:p>
            <a:pPr>
              <a:spcAft>
                <a:spcPts val="700"/>
              </a:spcAft>
              <a:defRPr sz="1300">
                <a:solidFill>
                  <a:srgbClr val="4F6982"/>
                </a:solidFill>
                <a:latin typeface="Aptos"/>
              </a:defRPr>
            </a:pPr>
            <a:r>
              <a:t>• release, retreat, success / timeout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5285232"/>
            <a:ext cx="10149840" cy="713232"/>
          </a:xfrm>
          <a:prstGeom prst="roundRect">
            <a:avLst/>
          </a:prstGeom>
          <a:solidFill>
            <a:srgbClr val="FFF7E5"/>
          </a:solidFill>
          <a:ln>
            <a:solidFill>
              <a:srgbClr val="E8C9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3232" y="5449824"/>
            <a:ext cx="9747504" cy="38404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1">
                <a:solidFill>
                  <a:srgbClr val="B57700"/>
                </a:solidFill>
                <a:latin typeface="Aptos"/>
              </a:rPr>
              <a:t>Current engineering status: residual-RL bootstrap reaches grasp/lift/transport; rotation and pure end-to-end RL remain open milestones.</a:t>
            </a:r>
            <a:endParaRPr sz="1200" b="1">
              <a:solidFill>
                <a:srgbClr val="B57700"/>
              </a:solidFill>
              <a:latin typeface="Apto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0844784" y="5358384"/>
            <a:ext cx="841248" cy="56692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100" b="1">
                <a:solidFill>
                  <a:srgbClr val="2369BE"/>
                </a:solidFill>
                <a:latin typeface="Aptos"/>
              </a:rPr>
              <a:t>PPO
RSL-RL</a:t>
            </a:r>
            <a:endParaRPr sz="1100" b="1">
              <a:solidFill>
                <a:srgbClr val="2369BE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384048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000" b="1">
                <a:solidFill>
                  <a:srgbClr val="008991"/>
                </a:solidFill>
                <a:latin typeface="Aptos"/>
              </a:rPr>
              <a:t>3 · ROBOT STATE + IMAGE</a:t>
            </a:r>
            <a:endParaRPr sz="1000" b="1">
              <a:solidFill>
                <a:srgbClr val="008991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0515600" cy="5029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700" b="1">
                <a:solidFill>
                  <a:srgbClr val="132B44"/>
                </a:solidFill>
                <a:latin typeface="Aptos"/>
              </a:rPr>
              <a:t>Transition from privileged state to wrist RGB-D</a:t>
            </a:r>
            <a:endParaRPr sz="2700" b="1">
              <a:solidFill>
                <a:srgbClr val="132B44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201400" y="310896"/>
            <a:ext cx="45720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900" b="0">
                <a:solidFill>
                  <a:srgbClr val="4F6982"/>
                </a:solidFill>
                <a:latin typeface="Aptos"/>
              </a:rPr>
              <a:t>08</a:t>
            </a:r>
            <a:endParaRPr sz="900" b="0">
              <a:solidFill>
                <a:srgbClr val="4F6982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21207" y="1060704"/>
            <a:ext cx="10789920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000" b="0">
                <a:solidFill>
                  <a:srgbClr val="4F6982"/>
                </a:solidFill>
                <a:latin typeface="Aptos"/>
              </a:rPr>
              <a:t>Keep proprioception; replace privileged object pose with learned visual features</a:t>
            </a:r>
            <a:endParaRPr sz="1000" b="0">
              <a:solidFill>
                <a:srgbClr val="4F6982"/>
              </a:solidFill>
              <a:latin typeface="Apto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1371600"/>
            <a:ext cx="11155680" cy="22860"/>
          </a:xfrm>
          <a:prstGeom prst="rect">
            <a:avLst/>
          </a:prstGeom>
          <a:solidFill>
            <a:srgbClr val="DFE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94360" y="1874519"/>
            <a:ext cx="2148840" cy="3218688"/>
          </a:xfrm>
          <a:prstGeom prst="roundRect">
            <a:avLst/>
          </a:prstGeom>
          <a:solidFill>
            <a:srgbClr val="FFFFFF"/>
          </a:solidFill>
          <a:ln>
            <a:solidFill>
              <a:srgbClr val="DFEC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58952" y="2084831"/>
            <a:ext cx="1572768" cy="292608"/>
          </a:xfrm>
          <a:prstGeom prst="roundRect">
            <a:avLst/>
          </a:prstGeom>
          <a:solidFill>
            <a:srgbClr val="7043AF"/>
          </a:solidFill>
          <a:ln>
            <a:solidFill>
              <a:srgbClr val="704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D455 INPUT</a:t>
            </a:r>
            <a:endParaRPr sz="9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95528" y="2706624"/>
            <a:ext cx="1755648" cy="16276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400" b="0">
                <a:solidFill>
                  <a:srgbClr val="4F6982"/>
                </a:solidFill>
                <a:latin typeface="Aptos"/>
              </a:rPr>
              <a:t>RGB frame
Depth / point cloud
Camera intrinsics
Wrist extrinsics</a:t>
            </a:r>
            <a:endParaRPr sz="1400" b="0">
              <a:solidFill>
                <a:srgbClr val="4F6982"/>
              </a:solidFill>
              <a:latin typeface="Aptos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3337560" y="1874519"/>
            <a:ext cx="2148840" cy="3218688"/>
          </a:xfrm>
          <a:prstGeom prst="roundRect">
            <a:avLst/>
          </a:prstGeom>
          <a:solidFill>
            <a:srgbClr val="FFFFFF"/>
          </a:solidFill>
          <a:ln>
            <a:solidFill>
              <a:srgbClr val="DFEC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502152" y="2084831"/>
            <a:ext cx="1572768" cy="292608"/>
          </a:xfrm>
          <a:prstGeom prst="roundRect">
            <a:avLst/>
          </a:prstGeom>
          <a:solidFill>
            <a:srgbClr val="2369BE"/>
          </a:solidFill>
          <a:ln>
            <a:solidFill>
              <a:srgbClr val="236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VISUAL ENCODER</a:t>
            </a:r>
            <a:endParaRPr sz="9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538728" y="2706624"/>
            <a:ext cx="1755648" cy="16276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400" b="0">
                <a:solidFill>
                  <a:srgbClr val="4F6982"/>
                </a:solidFill>
                <a:latin typeface="Aptos"/>
              </a:rPr>
              <a:t>Compact CNN / ViT
Depth-aware fusion
Handle + luggage geometry
Temporal features</a:t>
            </a:r>
            <a:endParaRPr sz="1400" b="0">
              <a:solidFill>
                <a:srgbClr val="4F6982"/>
              </a:solidFill>
              <a:latin typeface="Aptos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080760" y="1874519"/>
            <a:ext cx="2148840" cy="3218688"/>
          </a:xfrm>
          <a:prstGeom prst="roundRect">
            <a:avLst/>
          </a:prstGeom>
          <a:solidFill>
            <a:srgbClr val="FFFFFF"/>
          </a:solidFill>
          <a:ln>
            <a:solidFill>
              <a:srgbClr val="DFEC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45352" y="2084831"/>
            <a:ext cx="1572768" cy="292608"/>
          </a:xfrm>
          <a:prstGeom prst="roundRect">
            <a:avLst/>
          </a:prstGeom>
          <a:solidFill>
            <a:srgbClr val="008991"/>
          </a:solidFill>
          <a:ln>
            <a:solidFill>
              <a:srgbClr val="008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POLICY FUSION</a:t>
            </a:r>
            <a:endParaRPr sz="9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281928" y="2706624"/>
            <a:ext cx="1755648" cy="16276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400" b="0">
                <a:solidFill>
                  <a:srgbClr val="4F6982"/>
                </a:solidFill>
                <a:latin typeface="Aptos"/>
              </a:rPr>
              <a:t>Visual latent
Joint + gripper state
TCP velocity
Previous action</a:t>
            </a:r>
            <a:endParaRPr sz="1400" b="0">
              <a:solidFill>
                <a:srgbClr val="4F6982"/>
              </a:solidFill>
              <a:latin typeface="Aptos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823960" y="1874519"/>
            <a:ext cx="2148840" cy="3218688"/>
          </a:xfrm>
          <a:prstGeom prst="roundRect">
            <a:avLst/>
          </a:prstGeom>
          <a:solidFill>
            <a:srgbClr val="FFFFFF"/>
          </a:solidFill>
          <a:ln>
            <a:solidFill>
              <a:srgbClr val="DFEC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988552" y="2084831"/>
            <a:ext cx="1572768" cy="292608"/>
          </a:xfrm>
          <a:prstGeom prst="roundRect">
            <a:avLst/>
          </a:prstGeom>
          <a:solidFill>
            <a:srgbClr val="19874F"/>
          </a:solidFill>
          <a:ln>
            <a:solidFill>
              <a:srgbClr val="1987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7D CONTROL</a:t>
            </a:r>
            <a:endParaRPr sz="9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9025128" y="2706624"/>
            <a:ext cx="1755648" cy="16276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400" b="0">
                <a:solidFill>
                  <a:srgbClr val="4F6982"/>
                </a:solidFill>
                <a:latin typeface="Aptos"/>
              </a:rPr>
              <a:t>Cartesian delta
Orientation delta
Gripper command
Phase / memory</a:t>
            </a:r>
            <a:endParaRPr sz="1400" b="0">
              <a:solidFill>
                <a:srgbClr val="4F6982"/>
              </a:solidFill>
              <a:latin typeface="Apto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816352" y="3099816"/>
            <a:ext cx="365760" cy="3657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2200" b="1">
                <a:solidFill>
                  <a:srgbClr val="132B44"/>
                </a:solidFill>
                <a:latin typeface="Aptos"/>
              </a:rPr>
              <a:t>→</a:t>
            </a:r>
            <a:endParaRPr sz="2200" b="1">
              <a:solidFill>
                <a:srgbClr val="132B44"/>
              </a:solidFill>
              <a:latin typeface="Apto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559552" y="3099816"/>
            <a:ext cx="365760" cy="3657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2200" b="1">
                <a:solidFill>
                  <a:srgbClr val="132B44"/>
                </a:solidFill>
                <a:latin typeface="Aptos"/>
              </a:rPr>
              <a:t>→</a:t>
            </a:r>
            <a:endParaRPr sz="2200" b="1">
              <a:solidFill>
                <a:srgbClr val="132B44"/>
              </a:solidFill>
              <a:latin typeface="Apto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302752" y="3099816"/>
            <a:ext cx="365760" cy="3657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2200" b="1">
                <a:solidFill>
                  <a:srgbClr val="132B44"/>
                </a:solidFill>
                <a:latin typeface="Aptos"/>
              </a:rPr>
              <a:t>→</a:t>
            </a:r>
            <a:endParaRPr sz="2200" b="1">
              <a:solidFill>
                <a:srgbClr val="132B44"/>
              </a:solidFill>
              <a:latin typeface="Apto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58368" y="5504688"/>
            <a:ext cx="10835640" cy="56692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400" b="1">
                <a:solidFill>
                  <a:srgbClr val="132B44"/>
                </a:solidFill>
                <a:latin typeface="Aptos"/>
              </a:rPr>
              <a:t>Training recipe: state-policy teacher → synchronized RGB-D rollouts → behavior distillation → PPO fine-tuning with visual randomization.</a:t>
            </a:r>
            <a:endParaRPr sz="1400" b="1">
              <a:solidFill>
                <a:srgbClr val="132B44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384048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000" b="1">
                <a:solidFill>
                  <a:srgbClr val="008991"/>
                </a:solidFill>
                <a:latin typeface="Aptos"/>
              </a:rPr>
              <a:t>SIMULATION EVIDENCE</a:t>
            </a:r>
            <a:endParaRPr sz="1000" b="1">
              <a:solidFill>
                <a:srgbClr val="008991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0515600" cy="45085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700" b="1">
                <a:solidFill>
                  <a:srgbClr val="132B44"/>
                </a:solidFill>
                <a:latin typeface="Aptos"/>
              </a:rPr>
              <a:t>Current Picker2 </a:t>
            </a:r>
            <a:r>
              <a:rPr lang="en-US" sz="2700" b="1">
                <a:solidFill>
                  <a:srgbClr val="132B44"/>
                </a:solidFill>
                <a:latin typeface="Aptos"/>
              </a:rPr>
              <a:t>Manual Process</a:t>
            </a:r>
            <a:endParaRPr lang="en-US" sz="2700" b="1">
              <a:solidFill>
                <a:srgbClr val="132B44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201400" y="310896"/>
            <a:ext cx="45720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900" b="0">
                <a:solidFill>
                  <a:srgbClr val="4F6982"/>
                </a:solidFill>
                <a:latin typeface="Aptos"/>
              </a:rPr>
              <a:t>10</a:t>
            </a:r>
            <a:endParaRPr sz="900" b="0">
              <a:solidFill>
                <a:srgbClr val="4F6982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21207" y="1060704"/>
            <a:ext cx="10789920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000" b="0">
                <a:solidFill>
                  <a:srgbClr val="4F6982"/>
                </a:solidFill>
                <a:latin typeface="Aptos"/>
              </a:rPr>
              <a:t>Embedded 35-second recording from the local Genesis environment (click Play in presentation mode)</a:t>
            </a:r>
            <a:endParaRPr sz="1000" b="0">
              <a:solidFill>
                <a:srgbClr val="4F6982"/>
              </a:solidFill>
              <a:latin typeface="Apto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1371600"/>
            <a:ext cx="11155680" cy="22860"/>
          </a:xfrm>
          <a:prstGeom prst="rect">
            <a:avLst/>
          </a:prstGeom>
          <a:solidFill>
            <a:srgbClr val="DFE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732520" y="1638935"/>
            <a:ext cx="2788920" cy="2727960"/>
          </a:xfrm>
          <a:prstGeom prst="roundRect">
            <a:avLst/>
          </a:prstGeom>
          <a:solidFill>
            <a:srgbClr val="FFFFFF"/>
          </a:solidFill>
          <a:ln>
            <a:solidFill>
              <a:srgbClr val="DFEC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942832" y="1865376"/>
            <a:ext cx="1389888" cy="292608"/>
          </a:xfrm>
          <a:prstGeom prst="roundRect">
            <a:avLst/>
          </a:prstGeom>
          <a:solidFill>
            <a:srgbClr val="008991"/>
          </a:solidFill>
          <a:ln>
            <a:solidFill>
              <a:srgbClr val="008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WHAT TO WATCH</a:t>
            </a:r>
            <a:endParaRPr sz="9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942832" y="2423160"/>
            <a:ext cx="2322576" cy="1647825"/>
          </a:xfrm>
          <a:prstGeom prst="rect">
            <a:avLst/>
          </a:prstGeom>
          <a:noFill/>
        </p:spPr>
        <p:txBody>
          <a:bodyPr wrap="square" lIns="73152" rIns="36576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4F6982"/>
                </a:solidFill>
                <a:latin typeface="Aptos"/>
              </a:defRPr>
            </a:pPr>
            <a:r>
              <a:t>• home-position start</a:t>
            </a:r>
          </a:p>
          <a:p>
            <a:pPr>
              <a:spcAft>
                <a:spcPts val="700"/>
              </a:spcAft>
              <a:defRPr sz="1200">
                <a:solidFill>
                  <a:srgbClr val="4F6982"/>
                </a:solidFill>
                <a:latin typeface="Aptos"/>
              </a:defRPr>
            </a:pPr>
            <a:r>
              <a:t>• handle approach</a:t>
            </a:r>
          </a:p>
          <a:p>
            <a:pPr>
              <a:spcAft>
                <a:spcPts val="700"/>
              </a:spcAft>
              <a:defRPr sz="1200">
                <a:solidFill>
                  <a:srgbClr val="4F6982"/>
                </a:solidFill>
                <a:latin typeface="Aptos"/>
              </a:defRPr>
            </a:pPr>
            <a:r>
              <a:t>• physical grasp</a:t>
            </a:r>
          </a:p>
          <a:p>
            <a:pPr>
              <a:spcAft>
                <a:spcPts val="700"/>
              </a:spcAft>
              <a:defRPr sz="1200">
                <a:solidFill>
                  <a:srgbClr val="4F6982"/>
                </a:solidFill>
                <a:latin typeface="Aptos"/>
              </a:defRPr>
            </a:pPr>
            <a:r>
              <a:t>• retained lift</a:t>
            </a:r>
          </a:p>
          <a:p>
            <a:pPr>
              <a:spcAft>
                <a:spcPts val="700"/>
              </a:spcAft>
              <a:defRPr sz="1200">
                <a:solidFill>
                  <a:srgbClr val="4F6982"/>
                </a:solidFill>
                <a:latin typeface="Aptos"/>
              </a:defRPr>
            </a:pPr>
            <a:r>
              <a:t>• transport toward platform</a:t>
            </a:r>
          </a:p>
          <a:p>
            <a:pPr>
              <a:spcAft>
                <a:spcPts val="700"/>
              </a:spcAft>
              <a:defRPr sz="1200">
                <a:solidFill>
                  <a:srgbClr val="4F6982"/>
                </a:solidFill>
                <a:latin typeface="Aptos"/>
              </a:defRPr>
            </a:pPr>
            <a:r>
              <a:t>• current rotation </a:t>
            </a:r>
          </a:p>
        </p:txBody>
      </p:sp>
      <p:pic>
        <p:nvPicPr>
          <p:cNvPr id="13" name="manual_full_task_101050_rerun">
            <a:hlinkClick r:id="" action="ppaction://media"/>
          </p:cNvPr>
          <p:cNvPicPr/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171575" y="1678305"/>
            <a:ext cx="6096000" cy="42862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 fullScrn="0">
              <p:cMediaNode>
                <p:cTn id="2" fill="hold" display="1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video>
            <p:seq concurrent="1" nextAc="seek">
              <p:cTn id="3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 additive="base">
                                        <p:cTn id="7" dur="1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p="http://schemas.openxmlformats.org/presentationml/2006/main">
  <p:tag name="KSO_WM_MEDIACOVER_FLAG" val="1"/>
  <p:tag name="KSO_WM_UNIT_MEDIACOVER_BTN_STATE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4778</Words>
  <Application>WPS Presentation</Application>
  <PresentationFormat>On-screen Show (4:3)</PresentationFormat>
  <Paragraphs>229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21" baseType="lpstr">
      <vt:lpstr>Arial</vt:lpstr>
      <vt:lpstr>SimSun</vt:lpstr>
      <vt:lpstr>Wingdings</vt:lpstr>
      <vt:lpstr>Arial</vt:lpstr>
      <vt:lpstr>DejaVu Sans</vt:lpstr>
      <vt:lpstr>Aptos</vt:lpstr>
      <vt:lpstr>C059</vt:lpstr>
      <vt:lpstr>Calibri</vt:lpstr>
      <vt:lpstr>Microsoft YaHei</vt:lpstr>
      <vt:lpstr>文泉驿正黑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Unified Robot Control Interface</dc:title>
  <dc:creator>Generated from local project repositories</dc:creator>
  <cp:keywords>robotics, GUI, Isaac ROS, agentic systems, Picker2, reinforcement learning</cp:keywords>
  <dc:description>generated using python-pptx</dc:description>
  <dc:subject>Agentic Robots, Isaac ROS, CaP-X GUI reference, and Picker2 RL integration</dc:subject>
  <cp:lastModifiedBy>user</cp:lastModifiedBy>
  <cp:revision>4</cp:revision>
  <dcterms:created xsi:type="dcterms:W3CDTF">2026-09-04T05:58:32Z</dcterms:created>
  <dcterms:modified xsi:type="dcterms:W3CDTF">2026-09-04T05:58:32Z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/>
  </property>
  <property fmtid="{D5CDD505-2E9C-101B-9397-08002B2CF9AE}" pid="3" name="KSOProductBuildVer">
    <vt:lpwstr>1033-11.1.0.11733</vt:lpwstr>
  </property>
</Properties>
</file>