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39327" y="960120"/>
            <a:ext cx="3474720" cy="109728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39327" y="1389888"/>
            <a:ext cx="2788920" cy="109728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39327" y="1819656"/>
            <a:ext cx="2103120" cy="109728"/>
          </a:xfrm>
          <a:prstGeom prst="rect">
            <a:avLst/>
          </a:prstGeom>
          <a:solidFill>
            <a:srgbClr val="B57700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70408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>
                <a:solidFill>
                  <a:srgbClr val="132B44"/>
                </a:solidFill>
                <a:latin typeface="Aptos"/>
              </a:rPr>
              <a:t>UNIFIED ROBOT
CONTROL INTERFACE</a:t>
            </a:r>
            <a:endParaRPr sz="3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761488"/>
            <a:ext cx="65836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>
                <a:solidFill>
                  <a:srgbClr val="4F6982"/>
                </a:solidFill>
                <a:latin typeface="Aptos"/>
              </a:rPr>
              <a:t>A common GUI and integration framework for agentic planning, Isaac ROS execution, and Picker2 learned skills</a:t>
            </a:r>
            <a:endParaRPr sz="19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4041648"/>
            <a:ext cx="1234440" cy="274320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069080"/>
            <a:ext cx="10881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8991"/>
                </a:solidFill>
                <a:latin typeface="Aptos"/>
              </a:rPr>
              <a:t>AGENTIC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93392" y="4041648"/>
            <a:ext cx="1005840" cy="274320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4069080"/>
            <a:ext cx="8595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2369BE"/>
                </a:solidFill>
                <a:latin typeface="Aptos"/>
              </a:rPr>
              <a:t>ROS 2</a:t>
            </a:r>
            <a:endParaRPr sz="10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36392" y="4041648"/>
            <a:ext cx="1234440" cy="274320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4069080"/>
            <a:ext cx="10881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7043AF"/>
                </a:solidFill>
                <a:latin typeface="Aptos"/>
              </a:rPr>
              <a:t>RL SKILLS</a:t>
            </a:r>
            <a:endParaRPr sz="1000" b="1">
              <a:solidFill>
                <a:srgbClr val="7043A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617220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F6982"/>
                </a:solidFill>
                <a:latin typeface="Aptos"/>
              </a:rPr>
              <a:t>Architecture proposal • grounded in the current repositories</a:t>
            </a:r>
            <a:endParaRPr sz="11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27432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8712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008991"/>
                </a:solidFill>
                <a:latin typeface="Aptos"/>
              </a:rPr>
              <a:t>PLAN</a:t>
            </a:r>
            <a:endParaRPr sz="13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49640" y="34290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5570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369BE"/>
                </a:solidFill>
                <a:latin typeface="Aptos"/>
              </a:rPr>
              <a:t>PERCEIVE</a:t>
            </a:r>
            <a:endParaRPr sz="13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49640" y="41148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2428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B57700"/>
                </a:solidFill>
                <a:latin typeface="Aptos"/>
              </a:rPr>
              <a:t>ACT</a:t>
            </a:r>
            <a:endParaRPr sz="1300" b="1">
              <a:solidFill>
                <a:srgbClr val="B577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49640" y="4800600"/>
            <a:ext cx="2926080" cy="502920"/>
          </a:xfrm>
          <a:prstGeom prst="roundRect">
            <a:avLst/>
          </a:prstGeom>
          <a:solidFill>
            <a:srgbClr val="DCEDFC"/>
          </a:solidFill>
          <a:ln>
            <a:solidFill>
              <a:srgbClr val="198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4928616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19874F"/>
                </a:solidFill>
                <a:latin typeface="Aptos"/>
              </a:rPr>
              <a:t>VERIFY</a:t>
            </a:r>
            <a:endParaRPr sz="1300" b="1">
              <a:solidFill>
                <a:srgbClr val="1987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INTERFACE EXAMPLE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CaP-X simulation: workflow and 3D visualization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02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Screenshot captured from the local Franka cube-lifting demonstration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pic>
        <p:nvPicPr>
          <p:cNvPr id="7" name="Picture 6" descr="capx_latest_screenshot.png"/>
          <p:cNvPicPr>
            <a:picLocks noChangeAspect="1"/>
          </p:cNvPicPr>
          <p:nvPr/>
        </p:nvPicPr>
        <p:blipFill>
          <a:blip r:embed="rId1"/>
          <a:srcRect t="6807" b="6807"/>
          <a:stretch>
            <a:fillRect/>
          </a:stretch>
        </p:blipFill>
        <p:spPr>
          <a:xfrm>
            <a:off x="566928" y="1298448"/>
            <a:ext cx="11045952" cy="4956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870448"/>
            <a:ext cx="41605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925312"/>
            <a:ext cx="39319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>
                <a:solidFill>
                  <a:srgbClr val="132B44"/>
                </a:solidFill>
                <a:latin typeface="Aptos"/>
              </a:rPr>
              <a:t>Executable workflow • task events • MuJoCo view • interactive Viser scene</a:t>
            </a:r>
            <a:endParaRPr sz="850" b="1">
              <a:solidFill>
                <a:srgbClr val="132B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GUI STRUCTURE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How the CaP-X GUI exposes robot execution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03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Reference: local CaP-X Franka cube-lifting demonstration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" cy="4251960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1  Pseudo-code interface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High-level, readable robot workflow.
• Object pose / grasp pose
• Motion planning
• Robot and gripper commands
• Execution result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71800" y="1527048"/>
            <a:ext cx="932688" cy="274320"/>
          </a:xfrm>
          <a:prstGeom prst="round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8991"/>
                </a:solidFill>
                <a:latin typeface="Aptos"/>
              </a:rPr>
              <a:t>WORKFLOW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371600"/>
            <a:ext cx="54864" cy="4251960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2  YAML task configuration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9704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Reproducible task setup.
• Robot and simulator
• APIs and task prompt
• Model / workflow
• Visualization and outputs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57416" y="1527048"/>
            <a:ext cx="932688" cy="274320"/>
          </a:xfrm>
          <a:prstGeom prst="round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2369BE"/>
                </a:solidFill>
                <a:latin typeface="Aptos"/>
              </a:rPr>
              <a:t>CONFIG</a:t>
            </a:r>
            <a:endParaRPr sz="10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74152" y="1371600"/>
            <a:ext cx="36118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371600"/>
            <a:ext cx="54864" cy="4251960"/>
          </a:xfrm>
          <a:prstGeom prst="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36192"/>
            <a:ext cx="322783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3  3D visualization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1984248"/>
            <a:ext cx="3227832" cy="3502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Live execution context.
• Robot and object state
• Camera view and frames
• Grasps and trajectories
• Interactive inspection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543032" y="1527048"/>
            <a:ext cx="932688" cy="274320"/>
          </a:xfrm>
          <a:prstGeom prst="round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16184" y="1554480"/>
            <a:ext cx="7863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7043AF"/>
                </a:solidFill>
                <a:latin typeface="Aptos"/>
              </a:rPr>
              <a:t>VISER</a:t>
            </a:r>
            <a:endParaRPr sz="1000" b="1">
              <a:solidFill>
                <a:srgbClr val="7043A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60120" y="5870448"/>
            <a:ext cx="10287000" cy="420624"/>
          </a:xfrm>
          <a:prstGeom prst="roundRect">
            <a:avLst/>
          </a:prstGeom>
          <a:solidFill>
            <a:srgbClr val="E2F0FD"/>
          </a:solidFill>
          <a:ln>
            <a:solidFill>
              <a:srgbClr val="587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980176"/>
            <a:ext cx="9921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1">
                <a:solidFill>
                  <a:srgbClr val="2369BE"/>
                </a:solidFill>
                <a:latin typeface="Aptos"/>
              </a:rPr>
              <a:t>Task YAML</a:t>
            </a:r>
            <a:r>
              <a:rPr sz="1150" b="1">
                <a:solidFill>
                  <a:srgbClr val="008991"/>
                </a:solidFill>
                <a:latin typeface="Aptos"/>
              </a:rPr>
              <a:t>  →  high-level Python workflow</a:t>
            </a:r>
            <a:r>
              <a:rPr sz="1150" b="1">
                <a:solidFill>
                  <a:srgbClr val="B57700"/>
                </a:solidFill>
                <a:latin typeface="Aptos"/>
              </a:rPr>
              <a:t>  →  perception / planning / motion services</a:t>
            </a:r>
            <a:r>
              <a:rPr sz="1150" b="1">
                <a:solidFill>
                  <a:srgbClr val="7043AF"/>
                </a:solidFill>
                <a:latin typeface="Aptos"/>
              </a:rPr>
              <a:t>  →  live 3D evidence</a:t>
            </a:r>
            <a:endParaRPr sz="1150" b="1">
              <a:solidFill>
                <a:srgbClr val="7043A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008991"/>
                </a:solidFill>
                <a:latin typeface="Aptos"/>
              </a:rPr>
              <a:t>MODULE VIEW</a:t>
            </a:r>
            <a:endParaRPr sz="1000" b="1">
              <a:solidFill>
                <a:srgbClr val="00899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132B44"/>
                </a:solidFill>
                <a:latin typeface="Aptos"/>
              </a:rPr>
              <a:t>Agentic robot APIs and current implementations</a:t>
            </a:r>
            <a:endParaRPr sz="2700" b="1">
              <a:solidFill>
                <a:srgbClr val="132B44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1124712"/>
            <a:ext cx="11183112" cy="0"/>
          </a:xfrm>
          <a:prstGeom prst="line">
            <a:avLst/>
          </a:prstGeom>
          <a:ln w="12700">
            <a:solidFill>
              <a:srgbClr val="2D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4F6982"/>
                </a:solidFill>
                <a:latin typeface="Aptos"/>
              </a:rPr>
              <a:t>04</a:t>
            </a:r>
            <a:endParaRPr sz="900" b="1">
              <a:solidFill>
                <a:srgbClr val="4F69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F6982"/>
                </a:solidFill>
                <a:latin typeface="Aptos"/>
              </a:rPr>
              <a:t>Sources: agentic_robots/apis · agentic_robots/services · Isaac ROS manipulation workflow</a:t>
            </a:r>
            <a:endParaRPr sz="80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008991"/>
                </a:solidFill>
                <a:latin typeface="Aptos"/>
              </a:rPr>
              <a:t>Task intent</a:t>
            </a:r>
            <a:endParaRPr sz="1300" b="1">
              <a:solidFill>
                <a:srgbClr val="008991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96265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5584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7043AF"/>
                </a:solidFill>
                <a:latin typeface="Aptos"/>
              </a:rPr>
              <a:t>CodeAgent</a:t>
            </a:r>
            <a:endParaRPr sz="1300" b="1">
              <a:solidFill>
                <a:srgbClr val="7043A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75157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44768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B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B57700"/>
                </a:solidFill>
                <a:latin typeface="Aptos"/>
              </a:rPr>
              <a:t>Allowlisted runtime</a:t>
            </a:r>
            <a:endParaRPr sz="1300" b="1">
              <a:solidFill>
                <a:srgbClr val="B5770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540496" y="1600200"/>
            <a:ext cx="393192" cy="0"/>
          </a:xfrm>
          <a:prstGeom prst="line">
            <a:avLst/>
          </a:prstGeom>
          <a:ln w="25400">
            <a:solidFill>
              <a:srgbClr val="4F6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33687" y="1353312"/>
            <a:ext cx="2395728" cy="493776"/>
          </a:xfrm>
          <a:prstGeom prst="roundRect">
            <a:avLst/>
          </a:prstGeom>
          <a:solidFill>
            <a:srgbClr val="DCEDFC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7" y="1490472"/>
            <a:ext cx="221284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2369BE"/>
                </a:solidFill>
                <a:latin typeface="Aptos"/>
              </a:rPr>
              <a:t>Robot capabilities</a:t>
            </a:r>
            <a:endParaRPr sz="1300" b="1">
              <a:solidFill>
                <a:srgbClr val="2369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148840"/>
            <a:ext cx="54864" cy="3456432"/>
          </a:xfrm>
          <a:prstGeom prst="rect">
            <a:avLst/>
          </a:prstGeom>
          <a:solidFill>
            <a:srgbClr val="008991"/>
          </a:solidFill>
          <a:ln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Robot Control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" y="2761488"/>
            <a:ext cx="3017520" cy="2706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pose and robot state
• Cartesian/joint motion
• gripper open/close
Current implementation
• ActionApi
• FrankaReal + libfranka bridge
• FrankaSim / PyBullet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89120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148840"/>
            <a:ext cx="54864" cy="3456432"/>
          </a:xfrm>
          <a:prstGeom prst="rect">
            <a:avLst/>
          </a:prstGeom>
          <a:solidFill>
            <a:srgbClr val="2369BE"/>
          </a:solidFill>
          <a:ln>
            <a:solidFill>
              <a:srgbClr val="23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Perception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0288" y="2761488"/>
            <a:ext cx="3017520" cy="19958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object segmentation and pose
• point-cloud extraction
• grasp candidates
Current implementation
• SAM3 segmentation service
• Contact-GraspNet grasp service
</a:t>
            </a:r>
            <a:r>
              <a:rPr sz="1250">
                <a:solidFill>
                  <a:srgbClr val="4F6982"/>
                </a:solidFill>
                <a:latin typeface="Aptos"/>
                <a:sym typeface="+mn-ea"/>
              </a:rPr>
              <a:t>• </a:t>
            </a:r>
            <a:r>
              <a:rPr lang="en-US" sz="1250">
                <a:solidFill>
                  <a:srgbClr val="4F6982"/>
                </a:solidFill>
                <a:latin typeface="Aptos"/>
                <a:sym typeface="+mn-ea"/>
              </a:rPr>
              <a:t>Fundation Pose Estimation</a:t>
            </a:r>
            <a:endParaRPr sz="1250">
              <a:solidFill>
                <a:srgbClr val="4F6982"/>
              </a:solidFill>
              <a:latin typeface="Aptos"/>
              <a:sym typeface="+mn-ea"/>
            </a:endParaRPr>
          </a:p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• calibrated D455 observations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18932" y="2148840"/>
            <a:ext cx="34015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2E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11312" y="2148840"/>
            <a:ext cx="54864" cy="3456432"/>
          </a:xfrm>
          <a:prstGeom prst="rect">
            <a:avLst/>
          </a:prstGeom>
          <a:solidFill>
            <a:srgbClr val="7043AF"/>
          </a:solidFill>
          <a:ln>
            <a:solidFill>
              <a:srgbClr val="704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1343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32B44"/>
                </a:solidFill>
                <a:latin typeface="Aptos"/>
              </a:rPr>
              <a:t>Planning API</a:t>
            </a:r>
            <a:endParaRPr sz="1600" b="1">
              <a:solidFill>
                <a:srgbClr val="132B44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0" y="2761488"/>
            <a:ext cx="3017520" cy="19958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>
                <a:solidFill>
                  <a:srgbClr val="4F6982"/>
                </a:solidFill>
                <a:latin typeface="Aptos"/>
              </a:rPr>
              <a:t>Interface
• IK and target-pose planning
• collision-aware trajectory
• execute / cancel / report
Current implementation
• PyRoKi motion service (experimental)
• cuMotion + nvblox available in Isaac ROS
</a:t>
            </a:r>
            <a:endParaRPr sz="1250" b="0">
              <a:solidFill>
                <a:srgbClr val="4F6982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68680" y="5879592"/>
            <a:ext cx="10469880" cy="384048"/>
          </a:xfrm>
          <a:prstGeom prst="roundRect">
            <a:avLst/>
          </a:prstGeom>
          <a:solidFill>
            <a:srgbClr val="E2F0FD"/>
          </a:solidFill>
          <a:ln>
            <a:solidFill>
              <a:srgbClr val="587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980176"/>
            <a:ext cx="10104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132B44"/>
                </a:solidFill>
                <a:latin typeface="Aptos"/>
              </a:rPr>
              <a:t>Current path: </a:t>
            </a:r>
            <a:r>
              <a:rPr sz="1050" b="1">
                <a:solidFill>
                  <a:srgbClr val="2369BE"/>
                </a:solidFill>
                <a:latin typeface="Aptos"/>
              </a:rPr>
              <a:t>SAM3 → mask</a:t>
            </a:r>
            <a:r>
              <a:rPr sz="1050" b="1">
                <a:solidFill>
                  <a:srgbClr val="008991"/>
                </a:solidFill>
                <a:latin typeface="Aptos"/>
              </a:rPr>
              <a:t>  •  GraspNet → grasp</a:t>
            </a:r>
            <a:r>
              <a:rPr sz="1050" b="1">
                <a:solidFill>
                  <a:srgbClr val="7043AF"/>
                </a:solidFill>
                <a:latin typeface="Aptos"/>
              </a:rPr>
              <a:t>  •  PyRoKi / cuMotion → trajectory</a:t>
            </a:r>
            <a:r>
              <a:rPr sz="1050" b="1">
                <a:solidFill>
                  <a:srgbClr val="B57700"/>
                </a:solidFill>
                <a:latin typeface="Aptos"/>
              </a:rPr>
              <a:t>  •  robot backend → motion</a:t>
            </a:r>
            <a:endParaRPr sz="1050" b="1">
              <a:solidFill>
                <a:srgbClr val="B5770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2079</Words>
  <Application>WPS Presentation</Application>
  <PresentationFormat>On-screen Show (4:3)</PresentationFormat>
  <Paragraphs>89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SimSun</vt:lpstr>
      <vt:lpstr>Wingdings</vt:lpstr>
      <vt:lpstr>Arial</vt:lpstr>
      <vt:lpstr>DejaVu Sans</vt:lpstr>
      <vt:lpstr>Aptos</vt:lpstr>
      <vt:lpstr>C059</vt:lpstr>
      <vt:lpstr>Calibri</vt:lpstr>
      <vt:lpstr>Microsoft YaHei</vt:lpstr>
      <vt:lpstr>文泉驿正黑</vt:lpstr>
      <vt:lpstr>Arial Unicode MS</vt:lpstr>
      <vt:lpstr>Aptos Mono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Robot Control Interface</dc:title>
  <dc:creator>Generated from local project repositories</dc:creator>
  <cp:keywords>robotics, GUI, Isaac ROS, agentic systems, Picker2, reinforcement learning</cp:keywords>
  <dc:description>generated using python-pptx</dc:description>
  <dc:subject>Agentic Robots, Isaac ROS, CaP-X GUI reference, and Picker2 RL integration</dc:subject>
  <cp:lastModifiedBy>user</cp:lastModifiedBy>
  <cp:revision>3</cp:revision>
  <dcterms:created xsi:type="dcterms:W3CDTF">2026-09-04T05:28:29Z</dcterms:created>
  <dcterms:modified xsi:type="dcterms:W3CDTF">2026-09-04T05:28:29Z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1033-11.1.0.11733</vt:lpwstr>
  </property>
</Properties>
</file>